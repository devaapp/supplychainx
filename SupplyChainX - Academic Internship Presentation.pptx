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3544192"/>
            <a:ext cx="5334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2000" y="3810892"/>
            <a:ext cx="10668000" cy="857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477500" y="2189857"/>
            <a:ext cx="952500" cy="95250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905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2000" y="3810892"/>
            <a:ext cx="106680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9450" y="2470844"/>
            <a:ext cx="228600" cy="228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2000" y="2189857"/>
            <a:ext cx="51435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Space Grotesk"/>
              </a:rPr>
              <a:t>B.TECH CSE ACADEMIC INTERNSHIP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2475607"/>
            <a:ext cx="5400675" cy="5256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140"/>
              </a:lnSpc>
            </a:pPr>
            <a:r>
              <a:rPr b="1" sz="3600" i="0" u="none">
                <a:solidFill>
                  <a:srgbClr val="F8FAFC"/>
                </a:solidFill>
                <a:latin typeface="Space Grotesk"/>
              </a:rPr>
              <a:t>SupplyChainX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3096517"/>
            <a:ext cx="51435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94A3B8"/>
                </a:solidFill>
                <a:latin typeface="Plus Jakarta Sans"/>
              </a:rPr>
              <a:t>Smart Supply Chain &amp; Product Traceability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77500" y="2737544"/>
            <a:ext cx="952500" cy="12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825" i="0" u="none">
                <a:solidFill>
                  <a:srgbClr val="CBD5E1"/>
                </a:solidFill>
                <a:latin typeface="Plus Jakarta Sans"/>
              </a:rPr>
              <a:t>BVEC Seal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4010917"/>
            <a:ext cx="534590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SUBMITTED BY (FINAL YEAR CSE)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4239517"/>
            <a:ext cx="4371975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E2E8F0"/>
                </a:solidFill>
                <a:latin typeface="Plus Jakarta Sans"/>
              </a:rPr>
              <a:t>Prabal Das (2481103016) • Devaa Pratim Pathak (2481103000)</a:t>
            </a:r>
            <a:r>
              <a:t>
</a:t>
            </a:r>
            <a:r>
              <a:rPr b="1" sz="1125" i="0" u="none">
                <a:solidFill>
                  <a:srgbClr val="E2E8F0"/>
                </a:solidFill>
                <a:latin typeface="Plus Jakarta Sans"/>
              </a:rPr>
              <a:t> Niyar Huzuri (2481103001) • Nirmal Barman (2481103008)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03218" y="4077592"/>
            <a:ext cx="472678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0" sz="1050" i="0" u="none">
                <a:solidFill>
                  <a:srgbClr val="64748B"/>
                </a:solidFill>
                <a:latin typeface="Plus Jakarta Sans"/>
              </a:rPr>
              <a:t>DEPARTMENT &amp; MENTORS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53325" y="4306192"/>
            <a:ext cx="387667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1" sz="1125" i="0" u="none">
                <a:solidFill>
                  <a:srgbClr val="E2E8F0"/>
                </a:solidFill>
                <a:latin typeface="Plus Jakarta Sans"/>
              </a:rPr>
              <a:t>Dr. Kausthav Pratim Kalita &amp; Khanjan Changmai Baruah</a:t>
            </a:r>
            <a:r>
              <a:t>
</a:t>
            </a:r>
            <a:r>
              <a:rPr b="1" sz="1125" i="0" u="none">
                <a:solidFill>
                  <a:srgbClr val="E2E8F0"/>
                </a:solidFill>
                <a:latin typeface="Plus Jakarta Sans"/>
              </a:rPr>
              <a:t> Barak Valley Engineering College, Assam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1665386"/>
            <a:ext cx="5781377" cy="769441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2530078"/>
            <a:ext cx="5781377" cy="769441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3394769"/>
            <a:ext cx="5781377" cy="769441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4259460"/>
            <a:ext cx="5781377" cy="769441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5124152"/>
            <a:ext cx="5781377" cy="769441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657677" y="1636365"/>
            <a:ext cx="4924722" cy="4286250"/>
          </a:xfrm>
          <a:prstGeom prst="roundRect">
            <a:avLst>
              <a:gd name="adj" fmla="val 2666"/>
            </a:avLst>
          </a:prstGeom>
          <a:solidFill>
            <a:srgbClr val="F8FAFC"/>
          </a:solidFill>
          <a:ln w="190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1665386"/>
            <a:ext cx="38100" cy="769441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2530078"/>
            <a:ext cx="38100" cy="769441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600" y="3394769"/>
            <a:ext cx="38100" cy="769441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9600" y="4259460"/>
            <a:ext cx="38100" cy="769441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5124152"/>
            <a:ext cx="38100" cy="769441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1438" y="3155602"/>
            <a:ext cx="457200" cy="3619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1789211"/>
            <a:ext cx="152400" cy="1524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2653903"/>
            <a:ext cx="171450" cy="1524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" y="3518594"/>
            <a:ext cx="190500" cy="1524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" y="4383285"/>
            <a:ext cx="152400" cy="1524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" y="5247977"/>
            <a:ext cx="171450" cy="1524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09600" y="3810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Space Grotesk"/>
              </a:rPr>
              <a:t>CHAPTER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590550"/>
            <a:ext cx="11582400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2100" i="0" u="none">
                <a:solidFill>
                  <a:srgbClr val="0F172A"/>
                </a:solidFill>
                <a:latin typeface="Space Grotesk"/>
              </a:rPr>
              <a:t>1. Introduction: Equal 5-Domain Architecture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" y="1760636"/>
            <a:ext cx="7138001" cy="200025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Machine Learning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100" y="1979711"/>
            <a:ext cx="5533727" cy="3598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Predicts continuous delivery times in minutes and flags shipment delays against historical baselines.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100" y="2625328"/>
            <a:ext cx="7138001" cy="200025"/>
          </a:xfrm>
          <a:prstGeom prst="rect">
            <a:avLst/>
          </a:prstGeom>
          <a:noFill/>
        </p:spPr>
        <p:txBody>
          <a:bodyPr wrap="none" lIns="22860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Generative 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100" y="2844403"/>
            <a:ext cx="5533727" cy="3598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Provides grounded conversational answers and explains delay factors using live database and policy records.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100" y="3490019"/>
            <a:ext cx="7138001" cy="200025"/>
          </a:xfrm>
          <a:prstGeom prst="rect">
            <a:avLst/>
          </a:prstGeom>
          <a:noFill/>
        </p:spPr>
        <p:txBody>
          <a:bodyPr wrap="none" lIns="24765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Blockchain &amp; Custody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0100" y="3709094"/>
            <a:ext cx="5533727" cy="3598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Preserves tamper-evident product history via SHA-256 custody chains and customer-facing QR verification.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" y="4354710"/>
            <a:ext cx="7138001" cy="200025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Cybersecurity &amp; RBAC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0100" y="4573785"/>
            <a:ext cx="5533727" cy="3598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Guards data boundaries with bcrypt password hashing, signed JWTs, TOTP 2FA, and strict role endpoints.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" y="5219402"/>
            <a:ext cx="7138001" cy="200025"/>
          </a:xfrm>
          <a:prstGeom prst="rect">
            <a:avLst/>
          </a:prstGeom>
          <a:noFill/>
        </p:spPr>
        <p:txBody>
          <a:bodyPr wrap="none" lIns="22860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Data Science &amp; Dashboards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100" y="5438477"/>
            <a:ext cx="5533727" cy="3598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Unifies product telemetry and shipment states into five role-differentiated stakeholder dashboards.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24663" y="3631852"/>
            <a:ext cx="21907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Plus Jakarta Sans"/>
              </a:rPr>
              <a:t>[ Figure 1.1 Placeholder 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93632" y="3889027"/>
            <a:ext cx="3452812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Plus Jakarta Sans"/>
              </a:rPr>
              <a:t>Integrated Technology Domains of SupplyChainX meeting equally at the central platform core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1334690"/>
            <a:ext cx="10972800" cy="865733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2295673"/>
            <a:ext cx="10972800" cy="865733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3256657"/>
            <a:ext cx="10972800" cy="865733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4217640"/>
            <a:ext cx="10972800" cy="104566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5358556"/>
            <a:ext cx="10972800" cy="865733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9150" y="1458515"/>
            <a:ext cx="1426964" cy="200025"/>
          </a:xfrm>
          <a:prstGeom prst="roundRect">
            <a:avLst>
              <a:gd name="adj" fmla="val 19047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2190898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1334690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600" y="1334690"/>
            <a:ext cx="38100" cy="865733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572875" y="1334690"/>
            <a:ext cx="9525" cy="865733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19150" y="2419498"/>
            <a:ext cx="1089719" cy="200025"/>
          </a:xfrm>
          <a:prstGeom prst="roundRect">
            <a:avLst>
              <a:gd name="adj" fmla="val 19047"/>
            </a:avLst>
          </a:prstGeom>
          <a:solidFill>
            <a:srgbClr val="FA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9600" y="3151882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9600" y="2295673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9600" y="2295673"/>
            <a:ext cx="38100" cy="865733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572875" y="2295673"/>
            <a:ext cx="9525" cy="865733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9150" y="3380482"/>
            <a:ext cx="1009650" cy="200025"/>
          </a:xfrm>
          <a:prstGeom prst="roundRect">
            <a:avLst>
              <a:gd name="adj" fmla="val 19047"/>
            </a:avLst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9600" y="4112865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9600" y="3256657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9600" y="3256657"/>
            <a:ext cx="38100" cy="865733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572875" y="3256657"/>
            <a:ext cx="9525" cy="865733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19150" y="4341465"/>
            <a:ext cx="1194494" cy="200025"/>
          </a:xfrm>
          <a:prstGeom prst="roundRect">
            <a:avLst>
              <a:gd name="adj" fmla="val 19047"/>
            </a:avLst>
          </a:prstGeom>
          <a:solidFill>
            <a:srgbClr val="FF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9600" y="5253781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09600" y="4217640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09600" y="4217640"/>
            <a:ext cx="38100" cy="1045666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572875" y="4217640"/>
            <a:ext cx="9525" cy="104566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19150" y="5482381"/>
            <a:ext cx="1063079" cy="200025"/>
          </a:xfrm>
          <a:prstGeom prst="roundRect">
            <a:avLst>
              <a:gd name="adj" fmla="val 19047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09600" y="6214764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9600" y="5358556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09600" y="5358556"/>
            <a:ext cx="38100" cy="865733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1572875" y="5358556"/>
            <a:ext cx="9525" cy="865733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9600" y="3810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Space Grotesk"/>
              </a:rPr>
              <a:t>CHAPTER 2.1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9600" y="590550"/>
            <a:ext cx="11582400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2100" i="0" u="none">
                <a:solidFill>
                  <a:srgbClr val="0F172A"/>
                </a:solidFill>
                <a:latin typeface="Space Grotesk"/>
              </a:rPr>
              <a:t>2. Literature Review: Multi-Domain Technology Survey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5350" y="1487090"/>
            <a:ext cx="1369814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2563EB"/>
                </a:solidFill>
                <a:latin typeface="Plus Jakarta Sans"/>
              </a:rPr>
              <a:t>MACHINE LEARNING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9150" y="1696640"/>
            <a:ext cx="113728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Predictive Regression &amp; Explainability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9150" y="1915715"/>
            <a:ext cx="11372850" cy="17993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Literature shows that continuous delivery-time regression paired with SHAP transparency outperforms opaque binary classification in logistics decision-making.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5350" y="2448073"/>
            <a:ext cx="1032569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7C3AED"/>
                </a:solidFill>
                <a:latin typeface="Plus Jakarta Sans"/>
              </a:rPr>
              <a:t>GENERATIVE AI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9150" y="2657623"/>
            <a:ext cx="113728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Grounded Retrieval-Augmented Generation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9150" y="2876698"/>
            <a:ext cx="11372850" cy="17993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Studies emphasize using RAG pipelines over local vector indexes (FAISS) to eliminate conversational hallucinations during live shipment status queries.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5350" y="3409057"/>
            <a:ext cx="9525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284C7"/>
                </a:solidFill>
                <a:latin typeface="Plus Jakarta Sans"/>
              </a:rPr>
              <a:t>BLOCKCHAIN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9150" y="3618607"/>
            <a:ext cx="113728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Cryptographic Provenance Chains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9150" y="3837682"/>
            <a:ext cx="11372850" cy="17993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Research confirms that linking custody transfers through previous-hash pointers prevents silent record manipulation and guarantees verifiable audit trails across partners.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5350" y="4370040"/>
            <a:ext cx="1137344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E11D48"/>
                </a:solidFill>
                <a:latin typeface="Plus Jakarta Sans"/>
              </a:rPr>
              <a:t>CYBERSECURITY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9150" y="4579590"/>
            <a:ext cx="113728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Defense-in-Depth &amp; Role Governance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9150" y="4798665"/>
            <a:ext cx="10677525" cy="3598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Contemporary security benchmarks require salted password hashing (bcrypt), signed stateless tokens (JWT), and RFC-standard TOTP two-factor checks at API boundaries.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5350" y="5510956"/>
            <a:ext cx="1005929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16A34A"/>
                </a:solidFill>
                <a:latin typeface="Plus Jakarta Sans"/>
              </a:rPr>
              <a:t>DATA SCIENCE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9150" y="5720506"/>
            <a:ext cx="113728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Role-Differentiated Telemetry Dashboards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9150" y="5939581"/>
            <a:ext cx="11372850" cy="17993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Surveys highlight that separating operational metrics by stakeholder role (maker, carrier, retailer, buyer) dramatically improves response time during bottlenecks.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2295673"/>
            <a:ext cx="10972800" cy="656183"/>
          </a:xfrm>
          <a:prstGeom prst="rect">
            <a:avLst/>
          </a:prstGeom>
          <a:solidFill>
            <a:srgbClr val="FF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066157"/>
            <a:ext cx="10972800" cy="656183"/>
          </a:xfrm>
          <a:prstGeom prst="rect">
            <a:avLst/>
          </a:prstGeom>
          <a:solidFill>
            <a:srgbClr val="FF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3836640"/>
            <a:ext cx="10972800" cy="656183"/>
          </a:xfrm>
          <a:prstGeom prst="rect">
            <a:avLst/>
          </a:prstGeom>
          <a:solidFill>
            <a:srgbClr val="FF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4607123"/>
            <a:ext cx="10972800" cy="656183"/>
          </a:xfrm>
          <a:prstGeom prst="rect">
            <a:avLst/>
          </a:prstGeom>
          <a:solidFill>
            <a:srgbClr val="FF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295673"/>
            <a:ext cx="47625" cy="656183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3066157"/>
            <a:ext cx="47625" cy="656183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3836640"/>
            <a:ext cx="47625" cy="656183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4607123"/>
            <a:ext cx="47625" cy="656183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3810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Space Grotesk"/>
              </a:rPr>
              <a:t>CHAPTER 2.2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590550"/>
            <a:ext cx="11582400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2100" i="0" u="none">
                <a:solidFill>
                  <a:srgbClr val="0F172A"/>
                </a:solidFill>
                <a:latin typeface="Space Grotesk"/>
              </a:rPr>
              <a:t>3. Problem Statement: Core Supply Chain Bottlenecks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2419498"/>
            <a:ext cx="113442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9F1239"/>
                </a:solidFill>
                <a:latin typeface="Plus Jakarta Sans"/>
              </a:rPr>
              <a:t>1. Counterfeit Infiltration &amp; Provenance Gaps (Traceability Issue)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2648098"/>
            <a:ext cx="11344275" cy="17993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Lack of immutable digital history makes it trivial for rogue actors to swap genuine goods with counterfeits along vulnerable transit routes without detection.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3189982"/>
            <a:ext cx="113442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9F1239"/>
                </a:solidFill>
                <a:latin typeface="Plus Jakarta Sans"/>
              </a:rPr>
              <a:t>2. Insecure Data Boundaries &amp; Tampering (Cybersecurity Issue)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725" y="3418582"/>
            <a:ext cx="11344275" cy="17993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Flat database access and weak session controls allow unauthorized parties to manipulate dispatch logs, edit inventory levels, or view proprietary partner pricing.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725" y="3960465"/>
            <a:ext cx="113442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9F1239"/>
                </a:solidFill>
                <a:latin typeface="Plus Jakarta Sans"/>
              </a:rPr>
              <a:t>3. Unpredicted Delays Without Root Causes (Predictive Issue)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725" y="4189065"/>
            <a:ext cx="11344275" cy="17993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Managers discover transit delays only after schedules elapse, with no early warning indicators or factor breakdowns (traffic, driver rating, weather) to fix routes.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725" y="4730948"/>
            <a:ext cx="113442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9F1239"/>
                </a:solidFill>
                <a:latin typeface="Plus Jakarta Sans"/>
              </a:rPr>
              <a:t>4. Opaque Data Dumps &amp; Information Silos (Operational Issue)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7725" y="4959548"/>
            <a:ext cx="11344275" cy="17993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Logistics records remain isolated inside static spreadsheets without natural-language summaries, slowing down cross-departmental coordination.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969144"/>
            <a:ext cx="5567213" cy="826591"/>
          </a:xfrm>
          <a:prstGeom prst="roundRect">
            <a:avLst>
              <a:gd name="adj" fmla="val 921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900511"/>
            <a:ext cx="5567213" cy="826591"/>
          </a:xfrm>
          <a:prstGeom prst="roundRect">
            <a:avLst>
              <a:gd name="adj" fmla="val 921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831877"/>
            <a:ext cx="5567213" cy="826591"/>
          </a:xfrm>
          <a:prstGeom prst="roundRect">
            <a:avLst>
              <a:gd name="adj" fmla="val 921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4763244"/>
            <a:ext cx="5567213" cy="826591"/>
          </a:xfrm>
          <a:prstGeom prst="roundRect">
            <a:avLst>
              <a:gd name="adj" fmla="val 921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43513" y="1636365"/>
            <a:ext cx="5138886" cy="4286250"/>
          </a:xfrm>
          <a:prstGeom prst="roundRect">
            <a:avLst>
              <a:gd name="adj" fmla="val 2666"/>
            </a:avLst>
          </a:prstGeom>
          <a:solidFill>
            <a:srgbClr val="F8FAFC"/>
          </a:solidFill>
          <a:ln w="190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2786211"/>
            <a:ext cx="556721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1969144"/>
            <a:ext cx="556721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1969144"/>
            <a:ext cx="38100" cy="826591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67288" y="1969144"/>
            <a:ext cx="9525" cy="82659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9600" y="3717577"/>
            <a:ext cx="556721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2900511"/>
            <a:ext cx="556721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9600" y="2900511"/>
            <a:ext cx="38100" cy="826591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67288" y="2900511"/>
            <a:ext cx="9525" cy="82659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9600" y="4648944"/>
            <a:ext cx="556721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9600" y="3831877"/>
            <a:ext cx="556721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9600" y="3831877"/>
            <a:ext cx="38100" cy="826591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67288" y="3831877"/>
            <a:ext cx="9525" cy="82659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9600" y="5580310"/>
            <a:ext cx="556721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9600" y="4763244"/>
            <a:ext cx="556721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9600" y="4763244"/>
            <a:ext cx="38100" cy="826591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67288" y="4763244"/>
            <a:ext cx="9525" cy="82659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8094" y="3155602"/>
            <a:ext cx="409575" cy="36195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09600" y="3810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Space Grotesk"/>
              </a:rPr>
              <a:t>CHAPTER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9600" y="590550"/>
            <a:ext cx="11582400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2100" i="0" u="none">
                <a:solidFill>
                  <a:srgbClr val="0F172A"/>
                </a:solidFill>
                <a:latin typeface="Space Grotesk"/>
              </a:rPr>
              <a:t>4. Proposed Solution: 4-Tier System Architecture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0100" y="2092969"/>
            <a:ext cx="684441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Tier 1: Client &amp; Adaptive Dashboards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" y="2312044"/>
            <a:ext cx="5310038" cy="3598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Cross-platform Flutter application (mobile/tablet/desktop) and web command center tailored for all 5 roles.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0100" y="3024336"/>
            <a:ext cx="684441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Tier 2: API Gateway &amp; Security Services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" y="3243411"/>
            <a:ext cx="5310038" cy="3598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FastAPI asynchronous gateway enforcing bcrypt hashing, signed JWT auth, TOTP 2FA, and RBAC endpoint guards.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100" y="3955702"/>
            <a:ext cx="684441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Tier 3: Core Intelligence &amp; Provenance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0100" y="4174777"/>
            <a:ext cx="5310038" cy="3598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Random Forest regression, SHAP factor attribution, FAISS RAG with Google Gemini, and SHA-256 custody ledger.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100" y="4887069"/>
            <a:ext cx="684441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Tier 4: Persistence &amp; Smart Contract Target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0100" y="5106144"/>
            <a:ext cx="5310038" cy="3598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SQLAlchemy ORM with SQLite database, linked custody blocks, and an EVM-compatible Solidity 0.8.20 contract target.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63929" y="3631852"/>
            <a:ext cx="229790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Plus Jakarta Sans"/>
              </a:rPr>
              <a:t>[ Figure 3.4 Placeholder 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26944" y="3889027"/>
            <a:ext cx="3571875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Plus Jakarta Sans"/>
              </a:rPr>
              <a:t>Logical Architecture of SupplyChainX: Client • FastAPI Gateway • Security Services • Custody &amp; Intelligence Layers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636365"/>
            <a:ext cx="5138886" cy="4286250"/>
          </a:xfrm>
          <a:prstGeom prst="roundRect">
            <a:avLst>
              <a:gd name="adj" fmla="val 2666"/>
            </a:avLst>
          </a:prstGeom>
          <a:solidFill>
            <a:srgbClr val="F8FAFC"/>
          </a:solidFill>
          <a:ln w="190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15186" y="1841152"/>
            <a:ext cx="5567213" cy="714375"/>
          </a:xfrm>
          <a:prstGeom prst="roundRect">
            <a:avLst>
              <a:gd name="adj" fmla="val 1066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15186" y="2631727"/>
            <a:ext cx="5567213" cy="714375"/>
          </a:xfrm>
          <a:prstGeom prst="roundRect">
            <a:avLst>
              <a:gd name="adj" fmla="val 1066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15186" y="3422302"/>
            <a:ext cx="5567213" cy="714375"/>
          </a:xfrm>
          <a:prstGeom prst="roundRect">
            <a:avLst>
              <a:gd name="adj" fmla="val 1066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15186" y="4212877"/>
            <a:ext cx="5567213" cy="714375"/>
          </a:xfrm>
          <a:prstGeom prst="roundRect">
            <a:avLst>
              <a:gd name="adj" fmla="val 1066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015186" y="5003452"/>
            <a:ext cx="5567213" cy="714375"/>
          </a:xfrm>
          <a:prstGeom prst="roundRect">
            <a:avLst>
              <a:gd name="adj" fmla="val 1066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58061" y="2074515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58061" y="2865090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58061" y="3655665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58061" y="4446240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58061" y="5236815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7993" y="3155602"/>
            <a:ext cx="361950" cy="3619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3810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Space Grotesk"/>
              </a:rPr>
              <a:t>CHAPTER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590550"/>
            <a:ext cx="11582400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2100" i="0" u="none">
                <a:solidFill>
                  <a:srgbClr val="0F172A"/>
                </a:solidFill>
                <a:latin typeface="Space Grotesk"/>
              </a:rPr>
              <a:t>5. Detailed Methodology &amp; Engineering Pipeline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30015" y="3631852"/>
            <a:ext cx="229790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Plus Jakarta Sans"/>
              </a:rPr>
              <a:t>[ Figure 4.2 Placeholder 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12093" y="3889027"/>
            <a:ext cx="33337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Plus Jakarta Sans"/>
              </a:rPr>
              <a:t>Workflow Diagram: Verification Pipeline • Security Checks • Prediction Engine • Custody Block Handoffs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15186" y="2074515"/>
            <a:ext cx="5334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975" i="0" u="none">
                <a:solidFill>
                  <a:srgbClr val="FFFFFF"/>
                </a:solidFill>
                <a:latin typeface="Plus Jakarta Sans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15186" y="2865090"/>
            <a:ext cx="5334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975" i="0" u="none">
                <a:solidFill>
                  <a:srgbClr val="FFFFFF"/>
                </a:solidFill>
                <a:latin typeface="Plus Jakarta San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15186" y="3655665"/>
            <a:ext cx="5334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975" i="0" u="none">
                <a:solidFill>
                  <a:srgbClr val="FFFFFF"/>
                </a:solidFill>
                <a:latin typeface="Plus Jakarta San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15186" y="4446240"/>
            <a:ext cx="5334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975" i="0" u="none">
                <a:solidFill>
                  <a:srgbClr val="FFFFFF"/>
                </a:solidFill>
                <a:latin typeface="Plus Jakarta San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15186" y="5236815"/>
            <a:ext cx="5334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975" i="0" u="none">
                <a:solidFill>
                  <a:srgbClr val="FFFFFF"/>
                </a:solidFill>
                <a:latin typeface="Plus Jakarta Sans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0011" y="1926877"/>
            <a:ext cx="567198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Genesis Hash &amp; QR Registration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0011" y="2126902"/>
            <a:ext cx="5014763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Makers register products; SHA-256 metadata hash and unique verification QR are generated.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0011" y="2717452"/>
            <a:ext cx="567198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RBAC &amp; Custody Chaining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0011" y="2917477"/>
            <a:ext cx="5014763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JWT/TOTP verified handoffs append new cryptographic blocks linked to previous_hash.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0011" y="3508027"/>
            <a:ext cx="567198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Delivery Regression (Random Forest)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0011" y="3708052"/>
            <a:ext cx="5014763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Predicts transit duration in minutes and flags delays exceeding baseline by &gt;10 min.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20011" y="4298602"/>
            <a:ext cx="567198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SHAP Attribution &amp; Grounded RAG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0011" y="4498627"/>
            <a:ext cx="5014763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Calculates factor impacts; merges with FAISS policy vectors for Gemini explanation.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0011" y="5089177"/>
            <a:ext cx="567198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Consumer QR Verification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0011" y="5289202"/>
            <a:ext cx="5014763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Buyers scan packaging to review the complete, unalterable journey from factory to doorstep.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101453"/>
            <a:ext cx="5781377" cy="1157882"/>
          </a:xfrm>
          <a:prstGeom prst="roundRect">
            <a:avLst>
              <a:gd name="adj" fmla="val 658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354585"/>
            <a:ext cx="5781377" cy="1219200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4669035"/>
            <a:ext cx="5781377" cy="788491"/>
          </a:xfrm>
          <a:prstGeom prst="roundRect">
            <a:avLst>
              <a:gd name="adj" fmla="val 966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657677" y="1683990"/>
            <a:ext cx="4924722" cy="4191000"/>
          </a:xfrm>
          <a:prstGeom prst="roundRect">
            <a:avLst>
              <a:gd name="adj" fmla="val 2727"/>
            </a:avLst>
          </a:prstGeom>
          <a:solidFill>
            <a:srgbClr val="F8FAFC"/>
          </a:solidFill>
          <a:ln w="190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9063" y="3155602"/>
            <a:ext cx="361950" cy="3619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475" y="2234803"/>
            <a:ext cx="190500" cy="152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475" y="3487935"/>
            <a:ext cx="152400" cy="152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475" y="4802385"/>
            <a:ext cx="171450" cy="152400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52475" y="3697485"/>
          <a:ext cx="5495625" cy="771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514451"/>
                <a:gridCol w="1010840"/>
                <a:gridCol w="1010840"/>
                <a:gridCol w="959494"/>
              </a:tblGrid>
              <a:tr h="257175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Model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MAE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RMSE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R² Score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Decision Tree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17.01 min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22.10 min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0.818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2563EB"/>
                          </a:solidFill>
                          <a:latin typeface="Plus Jakarta Sans"/>
                        </a:rPr>
                        <a:t>Random Forest (Selected)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2563EB"/>
                          </a:solidFill>
                          <a:latin typeface="Plus Jakarta Sans"/>
                        </a:rPr>
                        <a:t>16.67 min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2563EB"/>
                          </a:solidFill>
                          <a:latin typeface="Plus Jakarta Sans"/>
                        </a:rPr>
                        <a:t>21.62 min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16A34A"/>
                          </a:solidFill>
                          <a:latin typeface="Plus Jakarta Sans"/>
                        </a:rPr>
                        <a:t>0.826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09600" y="3810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Space Grotesk"/>
              </a:rPr>
              <a:t>CHAPTER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590550"/>
            <a:ext cx="11582400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2100" i="0" u="none">
                <a:solidFill>
                  <a:srgbClr val="0F172A"/>
                </a:solidFill>
                <a:latin typeface="Space Grotesk"/>
              </a:rPr>
              <a:t>6. Results &amp; Operational Validation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2475" y="2206228"/>
            <a:ext cx="7213010" cy="200025"/>
          </a:xfrm>
          <a:prstGeom prst="rect">
            <a:avLst/>
          </a:prstGeom>
          <a:noFill/>
        </p:spPr>
        <p:txBody>
          <a:bodyPr wrap="none" lIns="24765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284C7"/>
                </a:solidFill>
                <a:latin typeface="Plus Jakarta Sans"/>
              </a:rPr>
              <a:t>Blockchain &amp; Security Validation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2475" y="2434828"/>
            <a:ext cx="5590877" cy="719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• </a:t>
            </a:r>
            <a:r>
              <a:rPr b="1" sz="1050" i="0" u="none">
                <a:solidFill>
                  <a:srgbClr val="475569"/>
                </a:solidFill>
                <a:latin typeface="Plus Jakarta Sans"/>
              </a:rPr>
              <a:t>Custody Integrity:</a:t>
            </a:r>
            <a:r>
              <a:rPr b="0" sz="1050" i="0" u="none">
                <a:solidFill>
                  <a:srgbClr val="475569"/>
                </a:solidFill>
                <a:latin typeface="Plus Jakarta Sans"/>
              </a:rPr>
              <a:t> 100% block-hash continuity verified; tampering breaks chain linkage.</a:t>
            </a:r>
            <a:r>
              <a:t>
</a:t>
            </a:r>
            <a:r>
              <a:rPr b="0" sz="1050" i="0" u="none">
                <a:solidFill>
                  <a:srgbClr val="475569"/>
                </a:solidFill>
                <a:latin typeface="Plus Jakarta Sans"/>
              </a:rPr>
              <a:t> • </a:t>
            </a:r>
            <a:r>
              <a:rPr b="1" sz="1050" i="0" u="none">
                <a:solidFill>
                  <a:srgbClr val="475569"/>
                </a:solidFill>
                <a:latin typeface="Plus Jakarta Sans"/>
              </a:rPr>
              <a:t>Access Defense:</a:t>
            </a:r>
            <a:r>
              <a:rPr b="0" sz="1050" i="0" u="none">
                <a:solidFill>
                  <a:srgbClr val="475569"/>
                </a:solidFill>
                <a:latin typeface="Plus Jakarta Sans"/>
              </a:rPr>
              <a:t> Cross-role access blocked by FastAPI guards; bcrypt and JWT validated.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2475" y="3459360"/>
            <a:ext cx="7213010" cy="200025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2563EB"/>
                </a:solidFill>
                <a:latin typeface="Plus Jakarta Sans"/>
              </a:rPr>
              <a:t>Machine Learning Evaluation (45,000 Records)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2475" y="4773810"/>
            <a:ext cx="7213010" cy="200025"/>
          </a:xfrm>
          <a:prstGeom prst="rect">
            <a:avLst/>
          </a:prstGeom>
          <a:noFill/>
        </p:spPr>
        <p:txBody>
          <a:bodyPr wrap="none" lIns="22860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7C3AED"/>
                </a:solidFill>
                <a:latin typeface="Plus Jakarta Sans"/>
              </a:rPr>
              <a:t>Live Intelligence Sample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2475" y="4992885"/>
            <a:ext cx="5590877" cy="3598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Predicted 244.2m vs 105.0m baseline (+139.2m delay). SHAP isolated Agent Rating (+47.4m) and Traffic (+44.8m); Gemini synthesized accurate explanation.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62726" y="3631852"/>
            <a:ext cx="27146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Plus Jakarta Sans"/>
              </a:rPr>
              <a:t>[ Figure 3.1 &amp; 5.1 Placeholder 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3163" y="3889027"/>
            <a:ext cx="33337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Plus Jakarta Sans"/>
              </a:rPr>
              <a:t>Model Comparison: Decision Tree vs Random Forest across MAE, RMSE, and R² Metric Values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1445865"/>
            <a:ext cx="10972800" cy="85725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2398365"/>
            <a:ext cx="10972800" cy="85725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3350865"/>
            <a:ext cx="10972800" cy="85725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4303365"/>
            <a:ext cx="10972800" cy="85725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5255865"/>
            <a:ext cx="10972800" cy="85725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9150" y="1569690"/>
            <a:ext cx="1426964" cy="200025"/>
          </a:xfrm>
          <a:prstGeom prst="roundRect">
            <a:avLst>
              <a:gd name="adj" fmla="val 19047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2293590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1445865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600" y="1445865"/>
            <a:ext cx="38100" cy="8572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572875" y="1445865"/>
            <a:ext cx="9525" cy="8572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19150" y="2522190"/>
            <a:ext cx="1089719" cy="200025"/>
          </a:xfrm>
          <a:prstGeom prst="roundRect">
            <a:avLst>
              <a:gd name="adj" fmla="val 19047"/>
            </a:avLst>
          </a:prstGeom>
          <a:solidFill>
            <a:srgbClr val="FA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9600" y="3246090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9600" y="2398365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9600" y="2398365"/>
            <a:ext cx="38100" cy="85725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572875" y="2398365"/>
            <a:ext cx="9525" cy="8572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9150" y="3474690"/>
            <a:ext cx="1009650" cy="200025"/>
          </a:xfrm>
          <a:prstGeom prst="roundRect">
            <a:avLst>
              <a:gd name="adj" fmla="val 19047"/>
            </a:avLst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9600" y="4198590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9600" y="3350865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9600" y="3350865"/>
            <a:ext cx="38100" cy="8572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572875" y="3350865"/>
            <a:ext cx="9525" cy="8572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19150" y="4427190"/>
            <a:ext cx="1194494" cy="200025"/>
          </a:xfrm>
          <a:prstGeom prst="roundRect">
            <a:avLst>
              <a:gd name="adj" fmla="val 19047"/>
            </a:avLst>
          </a:prstGeom>
          <a:solidFill>
            <a:srgbClr val="FF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9600" y="5151090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09600" y="4303365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09600" y="4303365"/>
            <a:ext cx="38100" cy="85725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572875" y="4303365"/>
            <a:ext cx="9525" cy="8572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19150" y="5379690"/>
            <a:ext cx="1063079" cy="200025"/>
          </a:xfrm>
          <a:prstGeom prst="roundRect">
            <a:avLst>
              <a:gd name="adj" fmla="val 19047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09600" y="6103590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9600" y="5255865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09600" y="5255865"/>
            <a:ext cx="38100" cy="85725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1572875" y="5255865"/>
            <a:ext cx="9525" cy="8572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9600" y="3810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Space Grotesk"/>
              </a:rPr>
              <a:t>CHAPTER 6.2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9600" y="590550"/>
            <a:ext cx="11582400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2100" i="0" u="none">
                <a:solidFill>
                  <a:srgbClr val="0F172A"/>
                </a:solidFill>
                <a:latin typeface="Space Grotesk"/>
              </a:rPr>
              <a:t>7. Future Work &amp; Deployment Roadmap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5350" y="1598265"/>
            <a:ext cx="1369814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2563EB"/>
                </a:solidFill>
                <a:latin typeface="Plus Jakarta Sans"/>
              </a:rPr>
              <a:t>MACHINE LEARNING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9150" y="1807815"/>
            <a:ext cx="113728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Expanded Prediction Models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9150" y="2026890"/>
            <a:ext cx="113728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Implement inventory shortage forecasting, supplier risk scoring, and batch quality classification models.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5350" y="2550765"/>
            <a:ext cx="1032569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7C3AED"/>
                </a:solidFill>
                <a:latin typeface="Plus Jakarta Sans"/>
              </a:rPr>
              <a:t>GENERATIVE AI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9150" y="2760315"/>
            <a:ext cx="113728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Live Mobile Integration &amp; Reports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9150" y="2979390"/>
            <a:ext cx="113728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Connect the Flutter mobile assistant directly to the live backend and generate automated PDF audit reports.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5350" y="3503265"/>
            <a:ext cx="9525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284C7"/>
                </a:solidFill>
                <a:latin typeface="Plus Jakarta Sans"/>
              </a:rPr>
              <a:t>BLOCKCHAIN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9150" y="3712815"/>
            <a:ext cx="113728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Public EVM Testnet Deployment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9150" y="3931890"/>
            <a:ext cx="113728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Deploy the Solidity 0.8.20 contract to Ethereum Sepolia via Web3.py for decentralized on-chain consensus.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5350" y="4455765"/>
            <a:ext cx="1137344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E11D48"/>
                </a:solidFill>
                <a:latin typeface="Plus Jakarta Sans"/>
              </a:rPr>
              <a:t>CYBERSECURITY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9150" y="4665315"/>
            <a:ext cx="113728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Production HTTPS &amp; Hardware 2FA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9150" y="4884390"/>
            <a:ext cx="113728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Upgrade development server to TLS certificates and integrate WebAuthn/FIDO2 hardware key authentication.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5350" y="5408265"/>
            <a:ext cx="1005929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16A34A"/>
                </a:solidFill>
                <a:latin typeface="Plus Jakarta Sans"/>
              </a:rPr>
              <a:t>DATA SCIENCE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9150" y="5617815"/>
            <a:ext cx="113728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Live Analytics &amp; Cloud Database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9150" y="5836890"/>
            <a:ext cx="113728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Migrate storage from SQLite to enterprise PostgreSQL and bind all KPI cards to live event data queries.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2188964"/>
            <a:ext cx="10972800" cy="84951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152775"/>
            <a:ext cx="10972800" cy="66288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3929955"/>
            <a:ext cx="10972800" cy="66288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4707135"/>
            <a:ext cx="10972800" cy="66288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188964"/>
            <a:ext cx="47625" cy="84951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3152775"/>
            <a:ext cx="47625" cy="66288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3929955"/>
            <a:ext cx="47625" cy="66288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4707135"/>
            <a:ext cx="47625" cy="6628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2341364"/>
            <a:ext cx="152400" cy="1524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25" y="3305175"/>
            <a:ext cx="190500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5" y="4082355"/>
            <a:ext cx="152400" cy="152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725" y="4859535"/>
            <a:ext cx="152400" cy="152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3810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Space Grotesk"/>
              </a:rPr>
              <a:t>CHAPTER 6.1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590550"/>
            <a:ext cx="11582400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2100" i="0" u="none">
                <a:solidFill>
                  <a:srgbClr val="0F172A"/>
                </a:solidFill>
                <a:latin typeface="Space Grotesk"/>
              </a:rPr>
              <a:t>8. Conclusion &amp; Key Project Contributions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725" y="2312789"/>
            <a:ext cx="11344275" cy="200025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D4ED8"/>
                </a:solidFill>
                <a:latin typeface="Plus Jakarta Sans"/>
              </a:rPr>
              <a:t>Accurate &amp; Interpretable Intelligence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725" y="2541389"/>
            <a:ext cx="10639425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Constructed a validated Random Forest regressor (MAE 16.67 mins, R² 0.826) paired with SHAP transparency and an un-hallucinated, policy-grounded Gemini RAG assistant.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725" y="3276600"/>
            <a:ext cx="11344275" cy="200025"/>
          </a:xfrm>
          <a:prstGeom prst="rect">
            <a:avLst/>
          </a:prstGeom>
          <a:noFill/>
        </p:spPr>
        <p:txBody>
          <a:bodyPr wrap="none" lIns="24765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369A1"/>
                </a:solidFill>
                <a:latin typeface="Plus Jakarta Sans"/>
              </a:rPr>
              <a:t>Tamper-Evident Provenance &amp; Verification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7725" y="3505200"/>
            <a:ext cx="11344275" cy="1866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Implemented a SHA-256 custody ledger that eliminates blind spots between partners and allows customers to instantly verify genuine factory origin through QR scans.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7725" y="4053780"/>
            <a:ext cx="11344275" cy="200025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BE123C"/>
                </a:solidFill>
                <a:latin typeface="Plus Jakarta Sans"/>
              </a:rPr>
              <a:t>Multi-Layer Defense &amp; Role Governance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7725" y="4282380"/>
            <a:ext cx="11344275" cy="1866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Enforced strict access boundaries across all five stakeholder roles using salted bcrypt passwords, signed stateless JWTs, TOTP two-factor checks, and FastAPI guards.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7725" y="4830960"/>
            <a:ext cx="11344275" cy="200025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5803D"/>
                </a:solidFill>
                <a:latin typeface="Plus Jakarta Sans"/>
              </a:rPr>
              <a:t>Academic Rigor &amp; Realistic Engineering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7725" y="5059560"/>
            <a:ext cx="11344275" cy="1866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Successfully moved from research notebooks to a service-oriented backend while honestly distinguishing verified prototype achievements from future production goals.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829300" y="3681412"/>
            <a:ext cx="5334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62437" y="4062412"/>
            <a:ext cx="3667125" cy="733425"/>
          </a:xfrm>
          <a:prstGeom prst="roundRect">
            <a:avLst>
              <a:gd name="adj" fmla="val 10389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750468" y="2062162"/>
            <a:ext cx="469106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38BDF8"/>
                </a:solidFill>
                <a:latin typeface="Space Grotesk"/>
              </a:rPr>
              <a:t>SUPPLYCHAINX ACADEMIC INTERNSHIP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08301" y="2386012"/>
            <a:ext cx="3175396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F8FAFC"/>
                </a:solidFill>
                <a:latin typeface="Space Grotesk"/>
              </a:rP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17281" y="3119437"/>
            <a:ext cx="235743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94A3B8"/>
                </a:solidFill>
                <a:latin typeface="Plus Jakarta Sans"/>
              </a:rPr>
              <a:t>Questions &amp;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96953" y="4224337"/>
            <a:ext cx="379809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94A3B8"/>
                </a:solidFill>
                <a:latin typeface="Plus Jakarta Sans"/>
              </a:rPr>
              <a:t>Department of Computer Science &amp;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96953" y="4433887"/>
            <a:ext cx="379809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F8FAFC"/>
                </a:solidFill>
                <a:latin typeface="Plus Jakarta Sans"/>
              </a:rPr>
              <a:t>Barak Valley Engineering College, Assam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